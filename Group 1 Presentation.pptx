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BM Plex Sans"/>
      <p:regular r:id="rId20"/>
      <p:bold r:id="rId21"/>
      <p:italic r:id="rId22"/>
      <p:boldItalic r:id="rId23"/>
    </p:embeddedFont>
    <p:embeddedFont>
      <p:font typeface="Sora SemiBold"/>
      <p:regular r:id="rId24"/>
      <p:bold r:id="rId25"/>
    </p:embeddedFont>
    <p:embeddedFont>
      <p:font typeface="IBM Plex Sans Medium"/>
      <p:regular r:id="rId26"/>
      <p:bold r:id="rId27"/>
      <p:italic r:id="rId28"/>
      <p:boldItalic r:id="rId29"/>
    </p:embeddedFont>
    <p:embeddedFont>
      <p:font typeface="Sora Light"/>
      <p:regular r:id="rId30"/>
      <p:bold r:id="rId31"/>
    </p:embeddedFont>
    <p:embeddedFont>
      <p:font typeface="Sora ExtraLight"/>
      <p:regular r:id="rId32"/>
      <p:bold r:id="rId33"/>
    </p:embeddedFont>
    <p:embeddedFont>
      <p:font typeface="Sora"/>
      <p:regular r:id="rId34"/>
      <p:bold r:id="rId35"/>
    </p:embeddedFont>
    <p:embeddedFont>
      <p:font typeface="Sora Medium"/>
      <p:regular r:id="rId36"/>
      <p:bold r:id="rId37"/>
    </p:embeddedFont>
    <p:embeddedFont>
      <p:font typeface="IBM Plex Sa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italic.fntdata"/><Relationship Id="rId41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Light-bold.fntdata"/><Relationship Id="rId30" Type="http://schemas.openxmlformats.org/officeDocument/2006/relationships/font" Target="fonts/SoraLight-regular.fntdata"/><Relationship Id="rId33" Type="http://schemas.openxmlformats.org/officeDocument/2006/relationships/font" Target="fonts/SoraExtraLight-bold.fntdata"/><Relationship Id="rId32" Type="http://schemas.openxmlformats.org/officeDocument/2006/relationships/font" Target="fonts/SoraExtraLight-regular.fntdata"/><Relationship Id="rId35" Type="http://schemas.openxmlformats.org/officeDocument/2006/relationships/font" Target="fonts/Sora-bold.fntdata"/><Relationship Id="rId34" Type="http://schemas.openxmlformats.org/officeDocument/2006/relationships/font" Target="fonts/Sora-regular.fntdata"/><Relationship Id="rId37" Type="http://schemas.openxmlformats.org/officeDocument/2006/relationships/font" Target="fonts/SoraMedium-bold.fntdata"/><Relationship Id="rId36" Type="http://schemas.openxmlformats.org/officeDocument/2006/relationships/font" Target="fonts/SoraMedium-regular.fntdata"/><Relationship Id="rId39" Type="http://schemas.openxmlformats.org/officeDocument/2006/relationships/font" Target="fonts/IBMPlexSansSemiBold-bold.fntdata"/><Relationship Id="rId38" Type="http://schemas.openxmlformats.org/officeDocument/2006/relationships/font" Target="fonts/IBMPlexSansSemiBold-regular.fntdata"/><Relationship Id="rId20" Type="http://schemas.openxmlformats.org/officeDocument/2006/relationships/font" Target="fonts/IBMPlexSans-regular.fntdata"/><Relationship Id="rId22" Type="http://schemas.openxmlformats.org/officeDocument/2006/relationships/font" Target="fonts/IBMPlexSans-italic.fntdata"/><Relationship Id="rId21" Type="http://schemas.openxmlformats.org/officeDocument/2006/relationships/font" Target="fonts/IBMPlexSans-bold.fntdata"/><Relationship Id="rId24" Type="http://schemas.openxmlformats.org/officeDocument/2006/relationships/font" Target="fonts/SoraSemiBold-regular.fntdata"/><Relationship Id="rId23" Type="http://schemas.openxmlformats.org/officeDocument/2006/relationships/font" Target="fonts/IBMPlexSans-boldItalic.fntdata"/><Relationship Id="rId26" Type="http://schemas.openxmlformats.org/officeDocument/2006/relationships/font" Target="fonts/IBMPlexSansMedium-regular.fntdata"/><Relationship Id="rId25" Type="http://schemas.openxmlformats.org/officeDocument/2006/relationships/font" Target="fonts/SoraSemiBold-bold.fntdata"/><Relationship Id="rId28" Type="http://schemas.openxmlformats.org/officeDocument/2006/relationships/font" Target="fonts/IBMPlexSansMedium-italic.fntdata"/><Relationship Id="rId27" Type="http://schemas.openxmlformats.org/officeDocument/2006/relationships/font" Target="fonts/IBMPlexSansMedium-bold.fntdata"/><Relationship Id="rId29" Type="http://schemas.openxmlformats.org/officeDocument/2006/relationships/font" Target="fonts/IBMPlexSans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efbe84d4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efbe84d4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efbe84d4f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efbe84d4f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efbe84d4f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efbe84d4f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efbe84d4f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efbe84d4f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efbe84d4f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efbe84d4f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efbe84d4f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efbe84d4f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efbe84d4f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efbe84d4f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efbe84d4f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efbe84d4f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efc111701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efc11170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efbe84d4f3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efbe84d4f3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efbe84d4f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efbe84d4f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efbe84d4f3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3efbe84d4f3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efbe84d4f3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efbe84d4f3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efbe84d4f3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efbe84d4f3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99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99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Can Crime predict Deprivation?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9" name="Google Shape;889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Predicting the Index of Multiple Deprivation using police-recorded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crime data.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5" name="Google Shape;895;p5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896" name="Google Shape;896;p5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897" name="Google Shape;897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898" name="Google Shape;898;p5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899" name="Google Shape;899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0" name="Google Shape;900;p5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01" name="Google Shape;901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2" name="Google Shape;902;p5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03" name="Google Shape;903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4" name="Google Shape;904;p52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905" name="Google Shape;905;p5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06" name="Google Shape;906;p52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Visualisations</a:t>
            </a:r>
            <a:endParaRPr/>
          </a:p>
        </p:txBody>
      </p:sp>
      <p:sp>
        <p:nvSpPr>
          <p:cNvPr id="907" name="Google Shape;907;p52"/>
          <p:cNvSpPr txBox="1"/>
          <p:nvPr>
            <p:ph idx="16" type="subTitle"/>
          </p:nvPr>
        </p:nvSpPr>
        <p:spPr>
          <a:xfrm>
            <a:off x="4482800" y="420822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7.</a:t>
            </a:r>
            <a:endParaRPr b="0"/>
          </a:p>
        </p:txBody>
      </p:sp>
      <p:sp>
        <p:nvSpPr>
          <p:cNvPr id="908" name="Google Shape;908;p52"/>
          <p:cNvSpPr txBox="1"/>
          <p:nvPr>
            <p:ph idx="1" type="subTitle"/>
          </p:nvPr>
        </p:nvSpPr>
        <p:spPr>
          <a:xfrm>
            <a:off x="4482800" y="440652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3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14" name="Google Shape;914;p53"/>
          <p:cNvSpPr txBox="1"/>
          <p:nvPr/>
        </p:nvSpPr>
        <p:spPr>
          <a:xfrm>
            <a:off x="91950" y="2155025"/>
            <a:ext cx="4200300" cy="27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Group 1</a:t>
            </a:r>
            <a:endParaRPr b="1" sz="1600" u="sng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Jade McFarlane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Rebecca Parker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Hong Tu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Rebecca Swarbrick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Maeve Finneran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Kelly O’Keefe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Idil Abdulle</a:t>
            </a:r>
            <a:endParaRPr sz="1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</a:t>
            </a:r>
            <a:endParaRPr/>
          </a:p>
        </p:txBody>
      </p:sp>
      <p:sp>
        <p:nvSpPr>
          <p:cNvPr id="920" name="Google Shape;920;p54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Statement -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we’re trying to answer</a:t>
            </a:r>
            <a:r>
              <a:rPr lang="en"/>
              <a:t> </a:t>
            </a:r>
            <a:endParaRPr/>
          </a:p>
        </p:txBody>
      </p:sp>
      <p:sp>
        <p:nvSpPr>
          <p:cNvPr id="921" name="Google Shape;921;p54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“Investigate the relationship between recorded crime and deprivation”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“Explore whether broader wellbeing indicators show similar regional patterns”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“Build a model to estimate IMD between official releases”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27" name="Google Shape;927;p55"/>
          <p:cNvSpPr txBox="1"/>
          <p:nvPr>
            <p:ph idx="1" type="subTitle"/>
          </p:nvPr>
        </p:nvSpPr>
        <p:spPr>
          <a:xfrm>
            <a:off x="115025" y="2494250"/>
            <a:ext cx="4457100" cy="21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Police Recorded Crime Data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(2024-2025)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English Indices of Multiple Deprivation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(IMD 2025)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UK Measures of National Wellbeing</a:t>
            </a:r>
            <a:endParaRPr b="1" sz="11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ONS LAD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ONS Mid‑Year Population Estimates</a:t>
            </a:r>
            <a:endParaRPr b="1" sz="11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  <p:sp>
        <p:nvSpPr>
          <p:cNvPr id="928" name="Google Shape;928;p55"/>
          <p:cNvSpPr txBox="1"/>
          <p:nvPr>
            <p:ph idx="2" type="title"/>
          </p:nvPr>
        </p:nvSpPr>
        <p:spPr>
          <a:xfrm>
            <a:off x="115025" y="406250"/>
            <a:ext cx="6507000" cy="1019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Sources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6"/>
          <p:cNvSpPr txBox="1"/>
          <p:nvPr>
            <p:ph idx="2" type="body"/>
          </p:nvPr>
        </p:nvSpPr>
        <p:spPr>
          <a:xfrm>
            <a:off x="228600" y="1801500"/>
            <a:ext cx="2896200" cy="17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Data Collection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Collected official datasets from the Office for National Statistics (ONS) and UK Police.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Included crime, IMD, wellbeing, population, and geographic lookup datasets.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34" name="Google Shape;934;p56"/>
          <p:cNvSpPr txBox="1"/>
          <p:nvPr>
            <p:ph idx="1" type="body"/>
          </p:nvPr>
        </p:nvSpPr>
        <p:spPr>
          <a:xfrm>
            <a:off x="3241325" y="1664125"/>
            <a:ext cx="2896200" cy="24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Data Cleaning &amp; Standardisation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Removed unnecessary columns, handled missing values and standardised formats.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Standardised ITL1/ITL2 region names.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Created consistent geographic identifiers.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35" name="Google Shape;935;p56"/>
          <p:cNvSpPr txBox="1"/>
          <p:nvPr>
            <p:ph idx="3" type="title"/>
          </p:nvPr>
        </p:nvSpPr>
        <p:spPr>
          <a:xfrm>
            <a:off x="619650" y="6865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Methodology</a:t>
            </a:r>
            <a:endParaRPr b="1"/>
          </a:p>
        </p:txBody>
      </p:sp>
      <p:sp>
        <p:nvSpPr>
          <p:cNvPr id="936" name="Google Shape;936;p56"/>
          <p:cNvSpPr txBox="1"/>
          <p:nvPr>
            <p:ph idx="1" type="body"/>
          </p:nvPr>
        </p:nvSpPr>
        <p:spPr>
          <a:xfrm>
            <a:off x="6137525" y="1664125"/>
            <a:ext cx="2896200" cy="24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Data Integration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Merged datasets using LAD to ITL mappings.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Created a unified dataset for exploratory analysis and machine learning.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7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2" name="Google Shape;942;p57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3" name="Google Shape;943;p57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4" name="Google Shape;944;p57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5" name="Google Shape;945;p57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6" name="Google Shape;946;p57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7" name="Google Shape;947;p57"/>
          <p:cNvSpPr txBox="1"/>
          <p:nvPr>
            <p:ph idx="3" type="title"/>
          </p:nvPr>
        </p:nvSpPr>
        <p:spPr>
          <a:xfrm>
            <a:off x="1129950" y="2186041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948" name="Google Shape;948;p57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Explored relationships between recorded crime, deprivation (IMD), and wellbeing indicators.</a:t>
            </a:r>
            <a:endParaRPr/>
          </a:p>
        </p:txBody>
      </p:sp>
      <p:sp>
        <p:nvSpPr>
          <p:cNvPr id="949" name="Google Shape;949;p57"/>
          <p:cNvSpPr txBox="1"/>
          <p:nvPr>
            <p:ph idx="7" type="title"/>
          </p:nvPr>
        </p:nvSpPr>
        <p:spPr>
          <a:xfrm>
            <a:off x="3820750" y="2977697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Produced visualisations to identify regional patterns, correlations, and outliers.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57"/>
          <p:cNvSpPr txBox="1"/>
          <p:nvPr>
            <p:ph idx="8" type="title"/>
          </p:nvPr>
        </p:nvSpPr>
        <p:spPr>
          <a:xfrm>
            <a:off x="3820750" y="3810108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Developed a Linear Regression model to predict IMD scores using recorded crime 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57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Analytical Approach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2" name="Google Shape;952;p57"/>
          <p:cNvSpPr txBox="1"/>
          <p:nvPr>
            <p:ph idx="4" type="title"/>
          </p:nvPr>
        </p:nvSpPr>
        <p:spPr>
          <a:xfrm>
            <a:off x="1129950" y="299226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Visualisation</a:t>
            </a:r>
            <a:endParaRPr/>
          </a:p>
        </p:txBody>
      </p:sp>
      <p:sp>
        <p:nvSpPr>
          <p:cNvPr id="953" name="Google Shape;953;p57"/>
          <p:cNvSpPr txBox="1"/>
          <p:nvPr>
            <p:ph idx="5" type="title"/>
          </p:nvPr>
        </p:nvSpPr>
        <p:spPr>
          <a:xfrm>
            <a:off x="1129950" y="3786727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954" name="Google Shape;954;p57"/>
          <p:cNvSpPr txBox="1"/>
          <p:nvPr>
            <p:ph idx="13" type="title"/>
          </p:nvPr>
        </p:nvSpPr>
        <p:spPr>
          <a:xfrm>
            <a:off x="666950" y="501700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Methodology</a:t>
            </a:r>
            <a:endParaRPr b="1"/>
          </a:p>
        </p:txBody>
      </p:sp>
      <p:sp>
        <p:nvSpPr>
          <p:cNvPr id="955" name="Google Shape;955;p57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56" name="Google Shape;956;p57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57" name="Google Shape;957;p57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8"/>
          <p:cNvSpPr txBox="1"/>
          <p:nvPr>
            <p:ph type="title"/>
          </p:nvPr>
        </p:nvSpPr>
        <p:spPr>
          <a:xfrm>
            <a:off x="3493350" y="1709075"/>
            <a:ext cx="1940400" cy="25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IBM Plex Sans"/>
                <a:ea typeface="IBM Plex Sans"/>
                <a:cs typeface="IBM Plex Sans"/>
                <a:sym typeface="IBM Plex Sans"/>
              </a:rPr>
              <a:t>Crime varies sharply across England </a:t>
            </a:r>
            <a:endParaRPr b="1" sz="14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How we will address this: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Use ITL2 + LSOA levels to avoid misleading averages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Apply consistent LAD - ITL2 lookups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Break crime down by offence type for clearer patterns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3" name="Google Shape;963;p58"/>
          <p:cNvSpPr txBox="1"/>
          <p:nvPr>
            <p:ph idx="2" type="title"/>
          </p:nvPr>
        </p:nvSpPr>
        <p:spPr>
          <a:xfrm>
            <a:off x="7056000" y="1709075"/>
            <a:ext cx="1940400" cy="23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IBM Plex Sans"/>
                <a:ea typeface="IBM Plex Sans"/>
                <a:cs typeface="IBM Plex Sans"/>
                <a:sym typeface="IBM Plex Sans"/>
              </a:rPr>
              <a:t>Wellbeing data shows a limited link to crime</a:t>
            </a:r>
            <a:endParaRPr b="1" sz="13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How we will address this: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Interpret wellbeing cautiously due to geographic mismatch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Use wellbeing as context, not direct comparison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Recommend consistent boundaries in future datasets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4" name="Google Shape;964;p58"/>
          <p:cNvSpPr txBox="1"/>
          <p:nvPr>
            <p:ph idx="3" type="title"/>
          </p:nvPr>
        </p:nvSpPr>
        <p:spPr>
          <a:xfrm>
            <a:off x="5294025" y="1709075"/>
            <a:ext cx="1940400" cy="26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Deprivation differs strongly between regions 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How we will address this: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Analyse deprivation at multiple scales (ITL2 + LSOA)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Avoid relying on regional averages alone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5" name="Google Shape;965;p58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Findings/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visualisations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8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address or avoid challenges</a:t>
            </a:r>
            <a:endParaRPr/>
          </a:p>
        </p:txBody>
      </p:sp>
      <p:sp>
        <p:nvSpPr>
          <p:cNvPr id="967" name="Google Shape;967;p58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9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Visualisation</a:t>
            </a:r>
            <a:endParaRPr b="1"/>
          </a:p>
        </p:txBody>
      </p:sp>
      <p:pic>
        <p:nvPicPr>
          <p:cNvPr id="973" name="Google Shape;973;p59" title="Combined crime &amp; deprivation sha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77575"/>
            <a:ext cx="4599651" cy="291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9" title="IMD X Lond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4450" y="1338575"/>
            <a:ext cx="3916824" cy="365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0"/>
          <p:cNvSpPr txBox="1"/>
          <p:nvPr>
            <p:ph idx="3" type="title"/>
          </p:nvPr>
        </p:nvSpPr>
        <p:spPr>
          <a:xfrm>
            <a:off x="250775" y="16353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IBM Plex Sans"/>
                <a:ea typeface="IBM Plex Sans"/>
                <a:cs typeface="IBM Plex Sans"/>
                <a:sym typeface="IBM Plex Sans"/>
              </a:rPr>
              <a:t>Communication objectives</a:t>
            </a:r>
            <a:endParaRPr b="1"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0" name="Google Shape;980;p60"/>
          <p:cNvSpPr txBox="1"/>
          <p:nvPr>
            <p:ph idx="5" type="title"/>
          </p:nvPr>
        </p:nvSpPr>
        <p:spPr>
          <a:xfrm>
            <a:off x="5166352" y="1635300"/>
            <a:ext cx="22149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IBM Plex Sans"/>
                <a:ea typeface="IBM Plex Sans"/>
                <a:cs typeface="IBM Plex Sans"/>
                <a:sym typeface="IBM Plex Sans"/>
              </a:rPr>
              <a:t>Project outcomes</a:t>
            </a:r>
            <a:endParaRPr b="1"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1" name="Google Shape;981;p60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Findings</a:t>
            </a:r>
            <a:endParaRPr b="1"/>
          </a:p>
        </p:txBody>
      </p:sp>
      <p:sp>
        <p:nvSpPr>
          <p:cNvPr id="982" name="Google Shape;982;p60"/>
          <p:cNvSpPr txBox="1"/>
          <p:nvPr>
            <p:ph idx="4" type="title"/>
          </p:nvPr>
        </p:nvSpPr>
        <p:spPr>
          <a:xfrm>
            <a:off x="2634200" y="1635300"/>
            <a:ext cx="21144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IBM Plex Sans"/>
                <a:ea typeface="IBM Plex Sans"/>
                <a:cs typeface="IBM Plex Sans"/>
                <a:sym typeface="IBM Plex Sans"/>
              </a:rPr>
              <a:t>Marketing objectives</a:t>
            </a:r>
            <a:endParaRPr b="1"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3" name="Google Shape;983;p60"/>
          <p:cNvSpPr txBox="1"/>
          <p:nvPr>
            <p:ph idx="9" type="body"/>
          </p:nvPr>
        </p:nvSpPr>
        <p:spPr>
          <a:xfrm>
            <a:off x="4984400" y="2126850"/>
            <a:ext cx="2578800" cy="2027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Deliver a complete analytical project </a:t>
            </a:r>
            <a:endParaRPr b="1"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Integrate three datasets </a:t>
            </a:r>
            <a:r>
              <a:rPr b="1" lang="en" sz="12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successfully</a:t>
            </a:r>
            <a:r>
              <a:rPr b="1" lang="en" sz="12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 and analyse all three to compare</a:t>
            </a:r>
            <a:endParaRPr b="1" sz="12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Produce clear visualisations</a:t>
            </a:r>
            <a:endParaRPr b="1" sz="12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Document next steps and limitations</a:t>
            </a:r>
            <a:endParaRPr b="1" sz="12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60"/>
          <p:cNvSpPr txBox="1"/>
          <p:nvPr>
            <p:ph idx="1" type="body"/>
          </p:nvPr>
        </p:nvSpPr>
        <p:spPr>
          <a:xfrm>
            <a:off x="70475" y="2246525"/>
            <a:ext cx="2214900" cy="2320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1300">
                <a:latin typeface="Sora"/>
                <a:ea typeface="Sora"/>
                <a:cs typeface="Sora"/>
                <a:sym typeface="Sora"/>
              </a:rPr>
              <a:t>Clear explanation of crime–deprivation–wellbeing links </a:t>
            </a:r>
            <a:endParaRPr sz="13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200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Use simple visuals and consistent terminology</a:t>
            </a:r>
            <a:endParaRPr sz="1200"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200"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200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Explain geographic limitations upfront</a:t>
            </a:r>
            <a:endParaRPr sz="1200"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200"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200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Present findings in clean, structured sections</a:t>
            </a:r>
            <a:endParaRPr sz="1200"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775"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85" name="Google Shape;985;p60"/>
          <p:cNvSpPr txBox="1"/>
          <p:nvPr>
            <p:ph idx="7" type="body"/>
          </p:nvPr>
        </p:nvSpPr>
        <p:spPr>
          <a:xfrm>
            <a:off x="2354450" y="1999350"/>
            <a:ext cx="2394000" cy="24891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ra"/>
                <a:ea typeface="Sora"/>
                <a:cs typeface="Sora"/>
                <a:sym typeface="Sora"/>
              </a:rPr>
              <a:t>Actionable insights for local authorities </a:t>
            </a:r>
            <a:endParaRPr b="1" sz="12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Sora"/>
                <a:ea typeface="Sora"/>
                <a:cs typeface="Sora"/>
                <a:sym typeface="Sora"/>
              </a:rPr>
              <a:t>Identify high crime and high deprivation regions</a:t>
            </a:r>
            <a:endParaRPr b="1" sz="1200">
              <a:solidFill>
                <a:schemeClr val="lt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3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Sora"/>
                <a:ea typeface="Sora"/>
                <a:cs typeface="Sora"/>
                <a:sym typeface="Sora"/>
              </a:rPr>
              <a:t>HIghlight wellbeing indicators that add social context</a:t>
            </a:r>
            <a:endParaRPr b="1" sz="1200">
              <a:solidFill>
                <a:schemeClr val="lt2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86" name="Google Shape;986;p60"/>
          <p:cNvCxnSpPr/>
          <p:nvPr/>
        </p:nvCxnSpPr>
        <p:spPr>
          <a:xfrm rot="5400000">
            <a:off x="35729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60"/>
          <p:cNvCxnSpPr/>
          <p:nvPr/>
        </p:nvCxnSpPr>
        <p:spPr>
          <a:xfrm rot="5400000">
            <a:off x="104082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1"/>
          <p:cNvSpPr/>
          <p:nvPr/>
        </p:nvSpPr>
        <p:spPr>
          <a:xfrm>
            <a:off x="6450463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3" name="Google Shape;993;p61"/>
          <p:cNvSpPr/>
          <p:nvPr/>
        </p:nvSpPr>
        <p:spPr>
          <a:xfrm>
            <a:off x="2721150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4" name="Google Shape;994;p61"/>
          <p:cNvSpPr/>
          <p:nvPr/>
        </p:nvSpPr>
        <p:spPr>
          <a:xfrm>
            <a:off x="4577544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5" name="Google Shape;995;p61"/>
          <p:cNvSpPr/>
          <p:nvPr/>
        </p:nvSpPr>
        <p:spPr>
          <a:xfrm>
            <a:off x="857838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6" name="Google Shape;996;p61"/>
          <p:cNvSpPr/>
          <p:nvPr/>
        </p:nvSpPr>
        <p:spPr>
          <a:xfrm>
            <a:off x="6450475" y="815650"/>
            <a:ext cx="2416500" cy="400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77000">
                <a:schemeClr val="accent1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7" name="Google Shape;997;p61"/>
          <p:cNvSpPr txBox="1"/>
          <p:nvPr>
            <p:ph type="title"/>
          </p:nvPr>
        </p:nvSpPr>
        <p:spPr>
          <a:xfrm>
            <a:off x="-86325" y="295450"/>
            <a:ext cx="20550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</a:t>
            </a:r>
            <a:r>
              <a:rPr lang="en"/>
              <a:t>Recommendations</a:t>
            </a:r>
            <a:endParaRPr/>
          </a:p>
        </p:txBody>
      </p:sp>
      <p:sp>
        <p:nvSpPr>
          <p:cNvPr id="998" name="Google Shape;998;p6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</a:t>
            </a:r>
            <a:r>
              <a:rPr lang="en"/>
              <a:t>few words about your communication goals for this project.</a:t>
            </a:r>
            <a:endParaRPr/>
          </a:p>
        </p:txBody>
      </p:sp>
      <p:sp>
        <p:nvSpPr>
          <p:cNvPr id="999" name="Google Shape;999;p61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Limitation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00" name="Google Shape;1000;p61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Geographic boundaries were not fully aligned across datasets.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Crime data was only available at police force level rather than neighbourhood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level, limiting direct comparison with deprivation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1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Limitation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02" name="Google Shape;1002;p61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Deprivation data – measures relative deprivation rather than absolute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deprivation, and is at LSOA level.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1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Limitation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04" name="Google Shape;1004;p61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Wellbeing data – this was available at a broader regional level, limiting direct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with the crime and deprivation datasets.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1"/>
          <p:cNvSpPr txBox="1"/>
          <p:nvPr>
            <p:ph idx="6" type="subTitle"/>
          </p:nvPr>
        </p:nvSpPr>
        <p:spPr>
          <a:xfrm>
            <a:off x="6860099" y="1008150"/>
            <a:ext cx="17523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Recommendations</a:t>
            </a:r>
            <a:endParaRPr sz="130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006" name="Google Shape;1006;p61"/>
          <p:cNvSpPr txBox="1"/>
          <p:nvPr>
            <p:ph idx="8" type="subTitle"/>
          </p:nvPr>
        </p:nvSpPr>
        <p:spPr>
          <a:xfrm>
            <a:off x="6655050" y="1275250"/>
            <a:ext cx="2162400" cy="29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- 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Policymakers should consider neighbourhood-level variation when designing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interventions.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- 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Future government datasets would benefit from using more consistent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geographic boundaries to improve cross-dataset analysis.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- 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Future research could incorporate additional socioeconomic variables, such as employment, education or housing, to provide a more comprehensive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understanding of the factors associated with crime.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7" name="Google Shape;1007;p61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08" name="Google Shape;1008;p61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09" name="Google Shape;1009;p61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10" name="Google Shape;1010;p61"/>
          <p:cNvSpPr txBox="1"/>
          <p:nvPr>
            <p:ph idx="15" type="title"/>
          </p:nvPr>
        </p:nvSpPr>
        <p:spPr>
          <a:xfrm>
            <a:off x="7422175" y="7658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62"/>
          <p:cNvSpPr/>
          <p:nvPr/>
        </p:nvSpPr>
        <p:spPr>
          <a:xfrm rot="10800000">
            <a:off x="1235525" y="15962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6" name="Google Shape;1016;p62"/>
          <p:cNvSpPr/>
          <p:nvPr/>
        </p:nvSpPr>
        <p:spPr>
          <a:xfrm>
            <a:off x="1265075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7" name="Google Shape;1017;p62"/>
          <p:cNvSpPr/>
          <p:nvPr/>
        </p:nvSpPr>
        <p:spPr>
          <a:xfrm rot="10800000">
            <a:off x="1235525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8" name="Google Shape;1018;p62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9" name="Google Shape;1019;p62"/>
          <p:cNvSpPr/>
          <p:nvPr/>
        </p:nvSpPr>
        <p:spPr>
          <a:xfrm rot="10800000">
            <a:off x="4672250" y="159625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0" name="Google Shape;1020;p62"/>
          <p:cNvSpPr/>
          <p:nvPr/>
        </p:nvSpPr>
        <p:spPr>
          <a:xfrm>
            <a:off x="4699363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1" name="Google Shape;1021;p62"/>
          <p:cNvSpPr/>
          <p:nvPr/>
        </p:nvSpPr>
        <p:spPr>
          <a:xfrm rot="10800000">
            <a:off x="4665150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2" name="Google Shape;1022;p62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023" name="Google Shape;1023;p62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4" name="Google Shape;1024;p6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25" name="Google Shape;1025;p62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CONCLUSIONS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6" name="Google Shape;1026;p62"/>
          <p:cNvSpPr txBox="1"/>
          <p:nvPr>
            <p:ph idx="6" type="subTitle"/>
          </p:nvPr>
        </p:nvSpPr>
        <p:spPr>
          <a:xfrm>
            <a:off x="2176500" y="319800"/>
            <a:ext cx="48336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investigated relationships between crime, deprivation and wellbeing across England using multiple publicly available datasets.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2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28" name="Google Shape;1028;p62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29" name="Google Shape;1029;p62"/>
          <p:cNvSpPr txBox="1"/>
          <p:nvPr/>
        </p:nvSpPr>
        <p:spPr>
          <a:xfrm>
            <a:off x="1439369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30" name="Google Shape;1030;p62"/>
          <p:cNvSpPr txBox="1"/>
          <p:nvPr/>
        </p:nvSpPr>
        <p:spPr>
          <a:xfrm>
            <a:off x="4869881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31" name="Google Shape;1031;p62"/>
          <p:cNvSpPr txBox="1"/>
          <p:nvPr>
            <p:ph idx="1" type="body"/>
          </p:nvPr>
        </p:nvSpPr>
        <p:spPr>
          <a:xfrm>
            <a:off x="1842438" y="1690750"/>
            <a:ext cx="2751000" cy="1072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analysis identified substantial variation in crime levels between regions and highlighted London’s distinctive crime profile. Deprivation analysis revealed substantial geographic variation across England. </a:t>
            </a:r>
            <a:endParaRPr/>
          </a:p>
        </p:txBody>
      </p:sp>
      <p:sp>
        <p:nvSpPr>
          <p:cNvPr id="1032" name="Google Shape;1032;p62"/>
          <p:cNvSpPr txBox="1"/>
          <p:nvPr>
            <p:ph idx="2" type="body"/>
          </p:nvPr>
        </p:nvSpPr>
        <p:spPr>
          <a:xfrm>
            <a:off x="1905950" y="3005925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London case study demonstrated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averages can conceal significant neighbourhood-level variation, highlighting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analysing data at an appropriate geographic scale.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2"/>
          <p:cNvSpPr txBox="1"/>
          <p:nvPr>
            <p:ph idx="3" type="body"/>
          </p:nvPr>
        </p:nvSpPr>
        <p:spPr>
          <a:xfrm>
            <a:off x="5297575" y="1888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Deprivation analysis revealed substantial geographic variation across England.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2"/>
          <p:cNvSpPr txBox="1"/>
          <p:nvPr>
            <p:ph idx="4" type="body"/>
          </p:nvPr>
        </p:nvSpPr>
        <p:spPr>
          <a:xfrm>
            <a:off x="5297575" y="31856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London case study demonstrated that regional averages may mask significant neighbourhood-level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3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1040" name="Google Shape;1040;p63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4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